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0FA0CDB-C64C-4E64-AA46-5F73C7314BB5}">
  <a:tblStyle styleId="{70FA0CDB-C64C-4E64-AA46-5F73C7314BB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dca2a971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dca2a971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dca2a971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dca2a971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dca2a971d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cdca2a971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dca2a971d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dca2a971d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dca2a971d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cdca2a971d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dca2a971d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cdca2a971d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>
                <a:latin typeface="Times New Roman"/>
                <a:ea typeface="Times New Roman"/>
                <a:cs typeface="Times New Roman"/>
                <a:sym typeface="Times New Roman"/>
              </a:rPr>
              <a:t>Нейронные сети для обработки изображений</a:t>
            </a:r>
            <a:endParaRPr sz="3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5923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материал подготовил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студент 4 курса МОиАИС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Сагитов Александр Александрович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355600" rtl="0" algn="ctr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300">
                <a:latin typeface="Times New Roman"/>
                <a:ea typeface="Times New Roman"/>
                <a:cs typeface="Times New Roman"/>
                <a:sym typeface="Times New Roman"/>
              </a:rPr>
              <a:t>Критерии отбора</a:t>
            </a:r>
            <a:endParaRPr sz="3700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433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914400" marR="3556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b="1"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Соотношение «цена / функционал».</a:t>
            </a: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Некоторые нейросети предлагают огромное количество инструментов за сравнительно небольшую стоимость.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914400" marR="355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b="1"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Количество инструментов.</a:t>
            </a: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Хорошо, если сервис обладает большим количеством ИИ-инструментов — выгоднее оплачивать только один сервис, если вы часто редактируете фото разными способами.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914400" marR="355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b="1"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Ограничения и лимиты.</a:t>
            </a: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 хотя все сервисы работают в России без VPN, почти у всех есть разные лимиты на использование.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914400" marR="355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b="1"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Стабильность работы.</a:t>
            </a: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Сервис не должен зависать или перезагружаться.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66425" y="155800"/>
            <a:ext cx="1888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355600" rtl="0" algn="ctr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b="1" lang="ru" sz="2400">
                <a:latin typeface="Times New Roman"/>
                <a:ea typeface="Times New Roman"/>
                <a:cs typeface="Times New Roman"/>
                <a:sym typeface="Times New Roman"/>
              </a:rPr>
              <a:t>Cutout Pro</a:t>
            </a:r>
            <a:endParaRPr sz="2400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66425" y="728500"/>
            <a:ext cx="7938600" cy="3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marR="355600" rtl="0" algn="just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Сильное преимущество — можно без регистрации протестировать многие инструменты бесплатно.</a:t>
            </a:r>
            <a:endParaRPr/>
          </a:p>
        </p:txBody>
      </p:sp>
      <p:graphicFrame>
        <p:nvGraphicFramePr>
          <p:cNvPr id="68" name="Google Shape;68;p15"/>
          <p:cNvGraphicFramePr/>
          <p:nvPr/>
        </p:nvGraphicFramePr>
        <p:xfrm>
          <a:off x="366425" y="12342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{70FA0CDB-C64C-4E64-AA46-5F73C7314BB5}</a:tableStyleId>
              </a:tblPr>
              <a:tblGrid>
                <a:gridCol w="1867250"/>
                <a:gridCol w="1392525"/>
              </a:tblGrid>
              <a:tr h="35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Цена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$1 / изображение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5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Генерация картинок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35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Удаление объектов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35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Улучшение качества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35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Работа с цветом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35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Работа с видео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35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Язык запросов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Английский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35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Ограничения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Без VPN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70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Обязательная регистрация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2525" y="1234225"/>
            <a:ext cx="4309263" cy="37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</a:t>
            </a:r>
            <a:endParaRPr/>
          </a:p>
        </p:txBody>
      </p:sp>
      <p:sp>
        <p:nvSpPr>
          <p:cNvPr id="75" name="Google Shape;75;p16"/>
          <p:cNvSpPr txBox="1"/>
          <p:nvPr>
            <p:ph idx="4294967295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 </a:t>
            </a:r>
            <a:endParaRPr/>
          </a:p>
        </p:txBody>
      </p:sp>
      <p:sp>
        <p:nvSpPr>
          <p:cNvPr id="76" name="Google Shape;76;p16"/>
          <p:cNvSpPr txBox="1"/>
          <p:nvPr>
            <p:ph idx="4294967295" type="title"/>
          </p:nvPr>
        </p:nvSpPr>
        <p:spPr>
          <a:xfrm>
            <a:off x="366425" y="155725"/>
            <a:ext cx="1195800" cy="53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355600" rtl="0" algn="ctr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b="1" lang="ru" sz="2400">
                <a:latin typeface="Times New Roman"/>
                <a:ea typeface="Times New Roman"/>
                <a:cs typeface="Times New Roman"/>
                <a:sym typeface="Times New Roman"/>
              </a:rPr>
              <a:t>Fotor</a:t>
            </a:r>
            <a:endParaRPr sz="2400"/>
          </a:p>
        </p:txBody>
      </p:sp>
      <p:sp>
        <p:nvSpPr>
          <p:cNvPr id="77" name="Google Shape;77;p16"/>
          <p:cNvSpPr txBox="1"/>
          <p:nvPr>
            <p:ph idx="4294967295" type="body"/>
          </p:nvPr>
        </p:nvSpPr>
        <p:spPr>
          <a:xfrm>
            <a:off x="366425" y="693025"/>
            <a:ext cx="7938600" cy="3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marR="355600" rtl="0" algn="just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ru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</a:t>
            </a:r>
            <a:r>
              <a:rPr lang="ru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реимущества: гораздо более </a:t>
            </a:r>
            <a:r>
              <a:rPr lang="ru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быстрое улучшение картинки по сравнению с другими, цена.</a:t>
            </a:r>
            <a:endParaRPr/>
          </a:p>
        </p:txBody>
      </p:sp>
      <p:graphicFrame>
        <p:nvGraphicFramePr>
          <p:cNvPr id="78" name="Google Shape;78;p16"/>
          <p:cNvGraphicFramePr/>
          <p:nvPr/>
        </p:nvGraphicFramePr>
        <p:xfrm>
          <a:off x="311700" y="12342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{70FA0CDB-C64C-4E64-AA46-5F73C7314BB5}</a:tableStyleId>
              </a:tblPr>
              <a:tblGrid>
                <a:gridCol w="1867250"/>
                <a:gridCol w="1392525"/>
              </a:tblGrid>
              <a:tr h="35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Цена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400₽ / месяц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5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Генерация картинок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35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Удаление объектов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35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Улучшение качества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35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Работа с цветом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35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Работа с видео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35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Язык запросов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Английский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35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Ограничения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Без VPN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70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Обязательная регистрация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2835" y="1234225"/>
            <a:ext cx="5120989" cy="3749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idx="4294967295" type="title"/>
          </p:nvPr>
        </p:nvSpPr>
        <p:spPr>
          <a:xfrm>
            <a:off x="366425" y="155800"/>
            <a:ext cx="2263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355600" rtl="0" algn="ctr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b="1" lang="ru" sz="2400">
                <a:latin typeface="Times New Roman"/>
                <a:ea typeface="Times New Roman"/>
                <a:cs typeface="Times New Roman"/>
                <a:sym typeface="Times New Roman"/>
              </a:rPr>
              <a:t>Neural Love</a:t>
            </a:r>
            <a:endParaRPr sz="2400"/>
          </a:p>
        </p:txBody>
      </p:sp>
      <p:sp>
        <p:nvSpPr>
          <p:cNvPr id="85" name="Google Shape;85;p17"/>
          <p:cNvSpPr txBox="1"/>
          <p:nvPr>
            <p:ph idx="4294967295" type="body"/>
          </p:nvPr>
        </p:nvSpPr>
        <p:spPr>
          <a:xfrm>
            <a:off x="366425" y="728500"/>
            <a:ext cx="7938600" cy="3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marR="355600" rtl="0" algn="just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ru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Уникальная возможность — генерации изображений, похожих на то, что вы загрузили (Img2Img).</a:t>
            </a:r>
            <a:endParaRPr/>
          </a:p>
        </p:txBody>
      </p:sp>
      <p:graphicFrame>
        <p:nvGraphicFramePr>
          <p:cNvPr id="86" name="Google Shape;86;p17"/>
          <p:cNvGraphicFramePr/>
          <p:nvPr/>
        </p:nvGraphicFramePr>
        <p:xfrm>
          <a:off x="366425" y="12342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{70FA0CDB-C64C-4E64-AA46-5F73C7314BB5}</a:tableStyleId>
              </a:tblPr>
              <a:tblGrid>
                <a:gridCol w="2059775"/>
                <a:gridCol w="1536125"/>
              </a:tblGrid>
              <a:tr h="35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Цена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от </a:t>
                      </a: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$0 до $500 / мес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5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Генерация картинок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35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Удаление объектов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35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Улучшение качества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35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Работа с цветом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35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Работа с видео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35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Язык запросов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Английский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35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Ограничения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Без VPN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70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Обязательная регистрация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9225" y="1234225"/>
            <a:ext cx="3799424" cy="182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98575" y="3138975"/>
            <a:ext cx="3750076" cy="1799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idx="4294967295" type="title"/>
          </p:nvPr>
        </p:nvSpPr>
        <p:spPr>
          <a:xfrm>
            <a:off x="366425" y="155800"/>
            <a:ext cx="2263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355600" rtl="0" algn="ctr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b="1" lang="ru" sz="2400">
                <a:latin typeface="Times New Roman"/>
                <a:ea typeface="Times New Roman"/>
                <a:cs typeface="Times New Roman"/>
                <a:sym typeface="Times New Roman"/>
              </a:rPr>
              <a:t>Fabula AI</a:t>
            </a:r>
            <a:endParaRPr sz="2400"/>
          </a:p>
        </p:txBody>
      </p:sp>
      <p:sp>
        <p:nvSpPr>
          <p:cNvPr id="94" name="Google Shape;94;p18"/>
          <p:cNvSpPr txBox="1"/>
          <p:nvPr>
            <p:ph idx="4294967295" type="body"/>
          </p:nvPr>
        </p:nvSpPr>
        <p:spPr>
          <a:xfrm>
            <a:off x="366425" y="728500"/>
            <a:ext cx="7938600" cy="3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marR="355600" rtl="0" algn="just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ru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Уникальная возможность — создание карточек товара для маркетплейсов</a:t>
            </a:r>
            <a:endParaRPr/>
          </a:p>
        </p:txBody>
      </p:sp>
      <p:graphicFrame>
        <p:nvGraphicFramePr>
          <p:cNvPr id="95" name="Google Shape;95;p18"/>
          <p:cNvGraphicFramePr/>
          <p:nvPr/>
        </p:nvGraphicFramePr>
        <p:xfrm>
          <a:off x="366425" y="12342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{70FA0CDB-C64C-4E64-AA46-5F73C7314BB5}</a:tableStyleId>
              </a:tblPr>
              <a:tblGrid>
                <a:gridCol w="2059775"/>
                <a:gridCol w="1536125"/>
              </a:tblGrid>
              <a:tr h="35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Цена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0₽ - 150₽ / мес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5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Генерация картинок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35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Удаление объектов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35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Улучшение качества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35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Работа с цветом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35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Работа с видео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35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Язык запросов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Русский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35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Ограничения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Без VPN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70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Обязательная регистрация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4725" y="1269400"/>
            <a:ext cx="4876874" cy="35768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idx="4294967295" type="title"/>
          </p:nvPr>
        </p:nvSpPr>
        <p:spPr>
          <a:xfrm>
            <a:off x="366425" y="155800"/>
            <a:ext cx="600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355600" rtl="0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2400">
                <a:latin typeface="Times New Roman"/>
                <a:ea typeface="Times New Roman"/>
                <a:cs typeface="Times New Roman"/>
                <a:sym typeface="Times New Roman"/>
              </a:rPr>
              <a:t>YouCam Online Editor </a:t>
            </a:r>
            <a:r>
              <a:rPr lang="ru" sz="2400">
                <a:latin typeface="Times New Roman"/>
                <a:ea typeface="Times New Roman"/>
                <a:cs typeface="Times New Roman"/>
                <a:sym typeface="Times New Roman"/>
              </a:rPr>
              <a:t>[ yce.perfectcorp.com ]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355600" rtl="0" algn="ctr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t/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19"/>
          <p:cNvSpPr txBox="1"/>
          <p:nvPr>
            <p:ph idx="4294967295" type="body"/>
          </p:nvPr>
        </p:nvSpPr>
        <p:spPr>
          <a:xfrm>
            <a:off x="366425" y="728500"/>
            <a:ext cx="7938600" cy="3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marR="355600" rtl="0" algn="just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ru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Уникальная возможность — восстановление изображений</a:t>
            </a:r>
            <a:endParaRPr/>
          </a:p>
        </p:txBody>
      </p:sp>
      <p:graphicFrame>
        <p:nvGraphicFramePr>
          <p:cNvPr id="103" name="Google Shape;103;p19"/>
          <p:cNvGraphicFramePr/>
          <p:nvPr/>
        </p:nvGraphicFramePr>
        <p:xfrm>
          <a:off x="366425" y="12342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{70FA0CDB-C64C-4E64-AA46-5F73C7314BB5}</a:tableStyleId>
              </a:tblPr>
              <a:tblGrid>
                <a:gridCol w="2059775"/>
                <a:gridCol w="1536125"/>
              </a:tblGrid>
              <a:tr h="35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Цена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</a:t>
                      </a: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0 - $7 / мес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5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Генерация картинок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35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Удаление объектов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35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Улучшение качества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35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Работа с цветом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35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Работа с видео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35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Язык запросов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Английский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35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Ограничения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Без VPN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70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Обязательная регистрация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pic>
        <p:nvPicPr>
          <p:cNvPr id="104" name="Google Shape;10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4725" y="1269400"/>
            <a:ext cx="4604706" cy="3721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